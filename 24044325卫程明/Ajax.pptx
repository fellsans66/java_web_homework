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接下来，我们进入第一部分，深入了解纯Ajax异步，也就是直接使用浏览器原生的XMLHttpRequest对象。这是所有Ajax技术的基石，理解它对于掌握前端通信至关重要。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传统Web应用交互卡顿、体验割裂的痛点，Ajax应运而生。它的核心思想非常巧妙：在后台悄悄地和服务器通信，只获取需要的数据，然后用JavaScript来更新页面的一部分。这样一来，用户体验变得无比流畅，就像使用桌面应用一样。这一技术的出现标志着Web 2.0时代的开启，也为我们今天使用的各种现代Web应用奠定了坚实的基础。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纯Ajax，本质上就是直接调用浏览器提供的XMLHttpRequest API。这个API非常强大，它让JavaScript有能力直接与服务器对话。虽然名字里有XML，但现在我们几乎都用它来传输JSON数据。它最大的优点就是原生支持，不需要任何额外的库，并且给了开发者最底层的控制权。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使用原生XHR的流程非常固定，就像一个标准的仪式。首先创建对象，然后初始化请求，接着设置一个回调函数来监听状态变化，然后发送请求，最后在回调里处理服务器的响应。这个过程中，`readyState`属性是关键，它告诉我们请求进行到哪一步了，只有当它变成4的时候，我们才能拿到最终的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这是一个典型的 GET 请求示例。大家可以看到，代码量不小。我们需要手动创建对象，设置回调，在回调里还要层层判断状态码。虽然功能强大，但写起来确实比较繁琐。每一步都需要开发者自己处理，包括错误处理。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原生Ajax的优缺点。优点很明显：原生、强大、兼容性好。但缺点也同样突出：代码太繁琐了，写起来很麻烦，尤其是处理多个异步请求时，很容易陷入“回调地狱”，代码会变得非常难看。而且这种基于事件的API风格，在今天看来已经有些过时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第一部分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556000"/>
            <a:ext cx="10160000" cy="1905000"/>
          </a:xfrm>
          <a:prstGeom prst="roundRect">
            <a:avLst>
              <a:gd name="adj" fmla="val 0"/>
            </a:avLst>
          </a:prstGeom>
          <a:solidFill>
            <a:srgbClr val="14232D">
              <a:alpha val="75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3746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 Ajax 异步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4572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BEE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 XMLHttpRequest —— 前端异步通信的底层基石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Ajax的诞生与核心价值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141E2D">
              <a:alpha val="85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625600"/>
            <a:ext cx="1028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Ajax (Asynchronous JavaScript and XML) 于2005年被正式提出，它并非一种全新的编程语言，而是一套对现有Web技术的创造性组合。这一技术的出现打破了传统Web应用的同步交互模式，让浏览器与服务器的通信变得更加灵活高效，成为连接静态Web 1.0与动态Web 2.0的关键技术转折点。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8575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0F192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857500"/>
            <a:ext cx="50800" cy="1079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921000"/>
            <a:ext cx="1028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核心思想在于：在不重新加载整个页面的前提下，通过 JavaScript 在后台与服务器进行异步数据交换，仅对页面的局部内容进行动态更新。这种“按需获取、局部渲染”的机制，彻底改变了用户与Web应用的交互体验，让网页具备了桌面软件般的流畅感。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3467100" cy="1460500"/>
          </a:xfrm>
          <a:prstGeom prst="roundRect">
            <a:avLst>
              <a:gd name="adj" fmla="val 0"/>
            </a:avLst>
          </a:prstGeom>
          <a:solidFill>
            <a:srgbClr val="1E293B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3467100" cy="381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89000" y="4292600"/>
            <a:ext cx="32131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异步通信机制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89000" y="4699000"/>
            <a:ext cx="32131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浏览器在后台发送请求时，用户无需等待服务器响应即可继续操作页面，彻底告别了传统同步模式下的“白屏等待”，实现了交互过程的无感知延迟。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81500" y="4191000"/>
            <a:ext cx="3467100" cy="1460500"/>
          </a:xfrm>
          <a:prstGeom prst="roundRect">
            <a:avLst>
              <a:gd name="adj" fmla="val 0"/>
            </a:avLst>
          </a:prstGeom>
          <a:solidFill>
            <a:srgbClr val="1E293B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381500" y="4191000"/>
            <a:ext cx="3467100" cy="381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508500" y="4292600"/>
            <a:ext cx="32131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无刷新局部更新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08500" y="4699000"/>
            <a:ext cx="32131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仅重绘页面中发生变化的区域而非重载整个HTML文档。这种方式极大提升了用户体验，使网页操作的流畅度和即时性达到了桌面原生应用的水平。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01000" y="4191000"/>
            <a:ext cx="3467100" cy="1460500"/>
          </a:xfrm>
          <a:prstGeom prst="roundRect">
            <a:avLst>
              <a:gd name="adj" fmla="val 0"/>
            </a:avLst>
          </a:prstGeom>
          <a:solidFill>
            <a:srgbClr val="1E293B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001000" y="4191000"/>
            <a:ext cx="3467100" cy="381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128000" y="4292600"/>
            <a:ext cx="32131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轻量化数据交换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28000" y="4699000"/>
            <a:ext cx="32131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摒弃了冗余的整页HTML传输，仅交换JSON等核心业务数据。这不仅大幅降低了网络带宽的消耗，还显著提升了数据处理和页面响应的速度。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715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40E0D0">
              <a:alpha val="12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52500" y="5778500"/>
            <a:ext cx="1028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这一技术革新正式宣告了 Web 2.0 时代的全面开启，它不仅重塑了互联网产品的交互形态，更成为了 React、Vue 等现代前端框架以及单页应用（SPA）架构蓬勃发展的重要技术基石。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纯Ajax：定义与核心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232D37">
              <a:alpha val="90000"/>
            </a:srgbClr>
          </a:solidFill>
          <a:ln w="12700" cap="flat" cmpd="sng">
            <a:solidFill>
              <a:srgbClr val="40E0D0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浏览器原生的 XMLHttpRequest 对象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纯Ajax异步是前端开发的底层技术范式，它不依赖任何第三方框架，直接调用浏览器提供的</a:t>
            </a:r>
            <a:r>
              <a:rPr lang="en-US" sz="13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XHR (XMLHttpRequest)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核心对象实现HTTP通信。作为Ajax技术的本源，它赋予了JavaScript程序在不刷新页面的前提下，独立向服务器发起请求、处理响应并动态更新页面内容的能力。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1C232D">
              <a:alpha val="92000"/>
            </a:srgbClr>
          </a:solidFill>
          <a:ln w="12700" cap="flat" cmpd="sng">
            <a:solidFill>
              <a:srgbClr val="40E0D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50800" cy="1714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276600"/>
            <a:ext cx="469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底层核心：XHR 原生接口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7084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C0CA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由浏览器环境原生提供的API，是实现异步交互的基础标准。开发者可直接通过JavaScript构造请求头、发送参数、处理响应状态，无需经过中间层封装，是构建轻量级网络请求逻辑的最原始方式。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3175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1C232D">
              <a:alpha val="92000"/>
            </a:srgbClr>
          </a:solidFill>
          <a:ln w="12700" cap="flat" cmpd="sng">
            <a:solidFill>
              <a:srgbClr val="40E0D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23000" y="3175000"/>
            <a:ext cx="50800" cy="1714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0" y="3276600"/>
            <a:ext cx="469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数据演进：超越 XML 的格式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37084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C0CA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尽管技术命名中包含XML，但现代应用中它已成为通用的数据传输通道。目前主流采用JSON格式进行数据交换，相比XML更轻量、解析更快，同时也完美支持纯文本、HTML片段等多种数据类型，适配各类业务场景。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3467100" cy="1460500"/>
          </a:xfrm>
          <a:prstGeom prst="roundRect">
            <a:avLst>
              <a:gd name="adj" fmla="val 0"/>
            </a:avLst>
          </a:prstGeom>
          <a:solidFill>
            <a:srgbClr val="141C26">
              <a:alpha val="95000"/>
            </a:srgbClr>
          </a:solidFill>
          <a:ln w="12700" cap="flat" cmpd="sng">
            <a:solidFill>
              <a:srgbClr val="40E0D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52500" y="5181600"/>
            <a:ext cx="311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零依赖原生运行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52500" y="55880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A0AF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直接运行于浏览器内核，无需引入外部类库，有效缩减项目体积，降低对外部资源的依赖，适合极简开发场景。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419600" y="5080000"/>
            <a:ext cx="3467100" cy="1460500"/>
          </a:xfrm>
          <a:prstGeom prst="roundRect">
            <a:avLst>
              <a:gd name="adj" fmla="val 0"/>
            </a:avLst>
          </a:prstGeom>
          <a:solidFill>
            <a:srgbClr val="141C26">
              <a:alpha val="95000"/>
            </a:srgbClr>
          </a:solidFill>
          <a:ln w="12700" cap="flat" cmpd="sng">
            <a:solidFill>
              <a:srgbClr val="40E0D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610100" y="5181600"/>
            <a:ext cx="311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全流程精细掌控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610100" y="55880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A0AF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深度把控请求全生命周期，支持进度监听、超时设置与请求中止，赋予开发者应对复杂网络环境的灵活处理能力。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064500" y="5080000"/>
            <a:ext cx="3467100" cy="1460500"/>
          </a:xfrm>
          <a:prstGeom prst="roundRect">
            <a:avLst>
              <a:gd name="adj" fmla="val 0"/>
            </a:avLst>
          </a:prstGeom>
          <a:solidFill>
            <a:srgbClr val="141C26">
              <a:alpha val="95000"/>
            </a:srgbClr>
          </a:solidFill>
          <a:ln w="12700" cap="flat" cmpd="sng">
            <a:solidFill>
              <a:srgbClr val="40E0D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255000" y="5181600"/>
            <a:ext cx="311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高性能低损耗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55000" y="55880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A0AF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摒弃封装层的额外开销，直接调用底层接口减少执行链路，显著提升数据传输效率，带来更流畅的用户交互体验。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纯Ajax：工作原理详解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108200" cy="2286000"/>
          </a:xfrm>
          <a:prstGeom prst="roundRect">
            <a:avLst>
              <a:gd name="adj" fmla="val 0"/>
            </a:avLst>
          </a:prstGeom>
          <a:solidFill>
            <a:srgbClr val="192332">
              <a:alpha val="92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108200" cy="50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803400"/>
            <a:ext cx="185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349500"/>
            <a:ext cx="1854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创建XHR对象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794000"/>
            <a:ext cx="185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实例化核心请求对象，这是开启 Ajax 异步通信的基础入口。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403600"/>
            <a:ext cx="1854200" cy="431800"/>
          </a:xfrm>
          <a:prstGeom prst="roundRect">
            <a:avLst>
              <a:gd name="adj" fmla="val 0"/>
            </a:avLst>
          </a:prstGeom>
          <a:solidFill>
            <a:srgbClr val="40E0D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39800" y="3429000"/>
            <a:ext cx="1752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0E0D0"/>
                </a:solidFill>
                <a:latin typeface="Roboto Mono"/>
                <a:ea typeface="Roboto Mono"/>
                <a:cs typeface="Roboto Mono"/>
                <a:sym typeface="Roboto Mono"/>
              </a:rPr>
              <a:t>new XMLHttpRequest()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971800" y="1651000"/>
            <a:ext cx="2108200" cy="2286000"/>
          </a:xfrm>
          <a:prstGeom prst="roundRect">
            <a:avLst>
              <a:gd name="adj" fmla="val 0"/>
            </a:avLst>
          </a:prstGeom>
          <a:solidFill>
            <a:srgbClr val="192332">
              <a:alpha val="92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2971800" y="1651000"/>
            <a:ext cx="2108200" cy="50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098800" y="1803400"/>
            <a:ext cx="185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098800" y="2349500"/>
            <a:ext cx="1854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初始化请求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098800" y="2794000"/>
            <a:ext cx="185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配置请求的核心参数：方法、URL和异步标志，此时尚未建立网络连接。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098800" y="3403600"/>
            <a:ext cx="1854200" cy="431800"/>
          </a:xfrm>
          <a:prstGeom prst="roundRect">
            <a:avLst>
              <a:gd name="adj" fmla="val 0"/>
            </a:avLst>
          </a:prstGeom>
          <a:solidFill>
            <a:srgbClr val="40E0D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149600" y="3429000"/>
            <a:ext cx="1752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0E0D0"/>
                </a:solidFill>
                <a:latin typeface="Roboto Mono"/>
                <a:ea typeface="Roboto Mono"/>
                <a:cs typeface="Roboto Mono"/>
                <a:sym typeface="Roboto Mono"/>
              </a:rPr>
              <a:t>xhr.open(method, url)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181600" y="1651000"/>
            <a:ext cx="2108200" cy="2286000"/>
          </a:xfrm>
          <a:prstGeom prst="roundRect">
            <a:avLst>
              <a:gd name="adj" fmla="val 0"/>
            </a:avLst>
          </a:prstGeom>
          <a:solidFill>
            <a:srgbClr val="192332">
              <a:alpha val="92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5181600" y="1651000"/>
            <a:ext cx="2108200" cy="50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308600" y="1803400"/>
            <a:ext cx="185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308600" y="2349500"/>
            <a:ext cx="1854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设置回调函数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308600" y="2794000"/>
            <a:ext cx="185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定义状态变化的监听器，当服务器响应到达时自动触发处理逻辑。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308600" y="3403600"/>
            <a:ext cx="1854200" cy="431800"/>
          </a:xfrm>
          <a:prstGeom prst="roundRect">
            <a:avLst>
              <a:gd name="adj" fmla="val 0"/>
            </a:avLst>
          </a:prstGeom>
          <a:solidFill>
            <a:srgbClr val="40E0D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5359400" y="3429000"/>
            <a:ext cx="1752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0E0D0"/>
                </a:solidFill>
                <a:latin typeface="Roboto Mono"/>
                <a:ea typeface="Roboto Mono"/>
                <a:cs typeface="Roboto Mono"/>
                <a:sym typeface="Roboto Mono"/>
              </a:rPr>
              <a:t>onreadystatechange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391400" y="1651000"/>
            <a:ext cx="2108200" cy="2286000"/>
          </a:xfrm>
          <a:prstGeom prst="roundRect">
            <a:avLst>
              <a:gd name="adj" fmla="val 0"/>
            </a:avLst>
          </a:prstGeom>
          <a:solidFill>
            <a:srgbClr val="192332">
              <a:alpha val="92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391400" y="1651000"/>
            <a:ext cx="2108200" cy="50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518400" y="1803400"/>
            <a:ext cx="185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518400" y="2349500"/>
            <a:ext cx="1854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发送请求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518400" y="2794000"/>
            <a:ext cx="185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正式将请求数据提交给服务器，启动实际的 HTTP 网络通信过程。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518400" y="3403600"/>
            <a:ext cx="1854200" cy="431800"/>
          </a:xfrm>
          <a:prstGeom prst="roundRect">
            <a:avLst>
              <a:gd name="adj" fmla="val 0"/>
            </a:avLst>
          </a:prstGeom>
          <a:solidFill>
            <a:srgbClr val="40E0D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7569200" y="3429000"/>
            <a:ext cx="1752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0E0D0"/>
                </a:solidFill>
                <a:latin typeface="Roboto Mono"/>
                <a:ea typeface="Roboto Mono"/>
                <a:cs typeface="Roboto Mono"/>
                <a:sym typeface="Roboto Mono"/>
              </a:rPr>
              <a:t>xhr.send(data)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601200" y="1651000"/>
            <a:ext cx="2108200" cy="2286000"/>
          </a:xfrm>
          <a:prstGeom prst="roundRect">
            <a:avLst>
              <a:gd name="adj" fmla="val 0"/>
            </a:avLst>
          </a:prstGeom>
          <a:solidFill>
            <a:srgbClr val="192332">
              <a:alpha val="92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9601200" y="1651000"/>
            <a:ext cx="2108200" cy="50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728200" y="1803400"/>
            <a:ext cx="185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728200" y="2349500"/>
            <a:ext cx="1854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处理响应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728200" y="2794000"/>
            <a:ext cx="185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校验请求状态与响应码，解析返回数据并动态更新页面内容。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728200" y="3403600"/>
            <a:ext cx="1854200" cy="431800"/>
          </a:xfrm>
          <a:prstGeom prst="roundRect">
            <a:avLst>
              <a:gd name="adj" fmla="val 0"/>
            </a:avLst>
          </a:prstGeom>
          <a:solidFill>
            <a:srgbClr val="40E0D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9779000" y="3429000"/>
            <a:ext cx="1752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0E0D0"/>
                </a:solidFill>
                <a:latin typeface="Roboto Mono"/>
                <a:ea typeface="Roboto Mono"/>
                <a:cs typeface="Roboto Mono"/>
                <a:sym typeface="Roboto Mono"/>
              </a:rPr>
              <a:t>readyState === 4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62000" y="4254500"/>
            <a:ext cx="10947400" cy="2095500"/>
          </a:xfrm>
          <a:prstGeom prst="roundRect">
            <a:avLst>
              <a:gd name="adj" fmla="val 0"/>
            </a:avLst>
          </a:prstGeom>
          <a:solidFill>
            <a:srgbClr val="141C28">
              <a:alpha val="95000"/>
            </a:srgbClr>
          </a:solidFill>
          <a:ln w="12700" cap="flat" cmpd="sng">
            <a:solidFill>
              <a:srgbClr val="40E0D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863600" y="4419600"/>
            <a:ext cx="2032000" cy="1714500"/>
          </a:xfrm>
          <a:prstGeom prst="roundRect">
            <a:avLst>
              <a:gd name="adj" fmla="val 0"/>
            </a:avLst>
          </a:prstGeom>
          <a:solidFill>
            <a:srgbClr val="40E0D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863600" y="4419600"/>
            <a:ext cx="2032000" cy="25400"/>
          </a:xfrm>
          <a:prstGeom prst="roundRect">
            <a:avLst>
              <a:gd name="adj" fmla="val 0"/>
            </a:avLst>
          </a:prstGeom>
          <a:solidFill>
            <a:srgbClr val="40E0D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927100" y="4508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Roboto Mono"/>
                <a:ea typeface="Roboto Mono"/>
                <a:cs typeface="Roboto Mono"/>
                <a:sym typeface="Roboto Mono"/>
              </a:rPr>
              <a:t>0 UNSENT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927100" y="4953000"/>
            <a:ext cx="190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对象已创建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927100" y="53975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A0AAB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代理对象已初始化，但尚未调用 open() 方法，处于未打开状态。</a:t>
            </a:r>
            <a:endParaRPr lang="en-US" sz="1100"/>
          </a:p>
        </p:txBody>
      </p:sp>
      <p:cxnSp>
        <p:nvCxnSpPr>
          <p:cNvPr id="45" name="Connector 45"/>
          <p:cNvCxnSpPr/>
          <p:nvPr/>
        </p:nvCxnSpPr>
        <p:spPr>
          <a:xfrm rot="5371352">
            <a:off x="2197100" y="5264176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AutoShape 46"/>
          <p:cNvSpPr/>
          <p:nvPr/>
        </p:nvSpPr>
        <p:spPr>
          <a:xfrm>
            <a:off x="3009900" y="4419600"/>
            <a:ext cx="2032000" cy="1714500"/>
          </a:xfrm>
          <a:prstGeom prst="roundRect">
            <a:avLst>
              <a:gd name="adj" fmla="val 0"/>
            </a:avLst>
          </a:prstGeom>
          <a:solidFill>
            <a:srgbClr val="40E0D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47"/>
          <p:cNvSpPr/>
          <p:nvPr/>
        </p:nvSpPr>
        <p:spPr>
          <a:xfrm>
            <a:off x="3009900" y="4419600"/>
            <a:ext cx="2032000" cy="25400"/>
          </a:xfrm>
          <a:prstGeom prst="roundRect">
            <a:avLst>
              <a:gd name="adj" fmla="val 0"/>
            </a:avLst>
          </a:prstGeom>
          <a:solidFill>
            <a:srgbClr val="40E0D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48"/>
          <p:cNvSpPr/>
          <p:nvPr/>
        </p:nvSpPr>
        <p:spPr>
          <a:xfrm>
            <a:off x="3073400" y="4508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Roboto Mono"/>
                <a:ea typeface="Roboto Mono"/>
                <a:cs typeface="Roboto Mono"/>
                <a:sym typeface="Roboto Mono"/>
              </a:rPr>
              <a:t>1 OPENED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3073400" y="4953000"/>
            <a:ext cx="190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打开连接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3073400" y="53975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A0AAB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open() 已调用，请求参数已设置，但尚未发送数据至服务器。</a:t>
            </a:r>
            <a:endParaRPr lang="en-US" sz="1100"/>
          </a:p>
        </p:txBody>
      </p:sp>
      <p:cxnSp>
        <p:nvCxnSpPr>
          <p:cNvPr id="51" name="Connector 51"/>
          <p:cNvCxnSpPr/>
          <p:nvPr/>
        </p:nvCxnSpPr>
        <p:spPr>
          <a:xfrm rot="5371352">
            <a:off x="4343400" y="5264176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AutoShape 52"/>
          <p:cNvSpPr/>
          <p:nvPr/>
        </p:nvSpPr>
        <p:spPr>
          <a:xfrm>
            <a:off x="5156200" y="4419600"/>
            <a:ext cx="2032000" cy="1714500"/>
          </a:xfrm>
          <a:prstGeom prst="roundRect">
            <a:avLst>
              <a:gd name="adj" fmla="val 0"/>
            </a:avLst>
          </a:prstGeom>
          <a:solidFill>
            <a:srgbClr val="40E0D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AutoShape 53"/>
          <p:cNvSpPr/>
          <p:nvPr/>
        </p:nvSpPr>
        <p:spPr>
          <a:xfrm>
            <a:off x="5156200" y="4419600"/>
            <a:ext cx="2032000" cy="25400"/>
          </a:xfrm>
          <a:prstGeom prst="roundRect">
            <a:avLst>
              <a:gd name="adj" fmla="val 0"/>
            </a:avLst>
          </a:prstGeom>
          <a:solidFill>
            <a:srgbClr val="40E0D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4" name="AutoShape 54"/>
          <p:cNvSpPr/>
          <p:nvPr/>
        </p:nvSpPr>
        <p:spPr>
          <a:xfrm>
            <a:off x="5219700" y="4508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Roboto Mono"/>
                <a:ea typeface="Roboto Mono"/>
                <a:cs typeface="Roboto Mono"/>
                <a:sym typeface="Roboto Mono"/>
              </a:rPr>
              <a:t>2 HEADERS_RECEIVED</a:t>
            </a:r>
            <a:endParaRPr lang="en-US" sz="1100"/>
          </a:p>
        </p:txBody>
      </p:sp>
      <p:sp>
        <p:nvSpPr>
          <p:cNvPr id="55" name="AutoShape 55"/>
          <p:cNvSpPr/>
          <p:nvPr/>
        </p:nvSpPr>
        <p:spPr>
          <a:xfrm>
            <a:off x="5219700" y="4953000"/>
            <a:ext cx="190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收到响应头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5219700" y="53975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A0AAB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send() 已调用，服务器已响应，响应头和状态码可被获取。</a:t>
            </a:r>
            <a:endParaRPr lang="en-US" sz="1100"/>
          </a:p>
        </p:txBody>
      </p:sp>
      <p:cxnSp>
        <p:nvCxnSpPr>
          <p:cNvPr id="57" name="Connector 57"/>
          <p:cNvCxnSpPr/>
          <p:nvPr/>
        </p:nvCxnSpPr>
        <p:spPr>
          <a:xfrm rot="5371352">
            <a:off x="6489700" y="5264176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AutoShape 58"/>
          <p:cNvSpPr/>
          <p:nvPr/>
        </p:nvSpPr>
        <p:spPr>
          <a:xfrm>
            <a:off x="7302500" y="4419600"/>
            <a:ext cx="2032000" cy="1714500"/>
          </a:xfrm>
          <a:prstGeom prst="roundRect">
            <a:avLst>
              <a:gd name="adj" fmla="val 0"/>
            </a:avLst>
          </a:prstGeom>
          <a:solidFill>
            <a:srgbClr val="40E0D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9" name="AutoShape 59"/>
          <p:cNvSpPr/>
          <p:nvPr/>
        </p:nvSpPr>
        <p:spPr>
          <a:xfrm>
            <a:off x="7302500" y="4419600"/>
            <a:ext cx="2032000" cy="25400"/>
          </a:xfrm>
          <a:prstGeom prst="roundRect">
            <a:avLst>
              <a:gd name="adj" fmla="val 0"/>
            </a:avLst>
          </a:prstGeom>
          <a:solidFill>
            <a:srgbClr val="40E0D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0" name="AutoShape 60"/>
          <p:cNvSpPr/>
          <p:nvPr/>
        </p:nvSpPr>
        <p:spPr>
          <a:xfrm>
            <a:off x="7366000" y="4508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Roboto Mono"/>
                <a:ea typeface="Roboto Mono"/>
                <a:cs typeface="Roboto Mono"/>
                <a:sym typeface="Roboto Mono"/>
              </a:rPr>
              <a:t>3 LOADING</a:t>
            </a:r>
            <a:endParaRPr lang="en-US" sz="1100"/>
          </a:p>
        </p:txBody>
      </p:sp>
      <p:sp>
        <p:nvSpPr>
          <p:cNvPr id="61" name="AutoShape 61"/>
          <p:cNvSpPr/>
          <p:nvPr/>
        </p:nvSpPr>
        <p:spPr>
          <a:xfrm>
            <a:off x="7366000" y="4953000"/>
            <a:ext cx="190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响应加载中</a:t>
            </a:r>
            <a:endParaRPr lang="en-US" sz="1100"/>
          </a:p>
        </p:txBody>
      </p:sp>
      <p:sp>
        <p:nvSpPr>
          <p:cNvPr id="62" name="AutoShape 62"/>
          <p:cNvSpPr/>
          <p:nvPr/>
        </p:nvSpPr>
        <p:spPr>
          <a:xfrm>
            <a:off x="7366000" y="53975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A0AAB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响应体正在接收中，responseText 已包含部分数据但尚未完成。</a:t>
            </a:r>
            <a:endParaRPr lang="en-US" sz="1100"/>
          </a:p>
        </p:txBody>
      </p:sp>
      <p:cxnSp>
        <p:nvCxnSpPr>
          <p:cNvPr id="63" name="Connector 63"/>
          <p:cNvCxnSpPr/>
          <p:nvPr/>
        </p:nvCxnSpPr>
        <p:spPr>
          <a:xfrm rot="5371352">
            <a:off x="8636000" y="5264176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AutoShape 64"/>
          <p:cNvSpPr/>
          <p:nvPr/>
        </p:nvSpPr>
        <p:spPr>
          <a:xfrm>
            <a:off x="9448800" y="4419600"/>
            <a:ext cx="2032000" cy="1714500"/>
          </a:xfrm>
          <a:prstGeom prst="roundRect">
            <a:avLst>
              <a:gd name="adj" fmla="val 0"/>
            </a:avLst>
          </a:prstGeom>
          <a:solidFill>
            <a:srgbClr val="40E0D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5" name="AutoShape 65"/>
          <p:cNvSpPr/>
          <p:nvPr/>
        </p:nvSpPr>
        <p:spPr>
          <a:xfrm>
            <a:off x="9448800" y="4419600"/>
            <a:ext cx="2032000" cy="25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6" name="AutoShape 66"/>
          <p:cNvSpPr/>
          <p:nvPr/>
        </p:nvSpPr>
        <p:spPr>
          <a:xfrm>
            <a:off x="9512300" y="4508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Roboto Mono"/>
                <a:ea typeface="Roboto Mono"/>
                <a:cs typeface="Roboto Mono"/>
                <a:sym typeface="Roboto Mono"/>
              </a:rPr>
              <a:t>4 DONE</a:t>
            </a:r>
            <a:endParaRPr lang="en-US" sz="1100"/>
          </a:p>
        </p:txBody>
      </p:sp>
      <p:sp>
        <p:nvSpPr>
          <p:cNvPr id="67" name="AutoShape 67"/>
          <p:cNvSpPr/>
          <p:nvPr/>
        </p:nvSpPr>
        <p:spPr>
          <a:xfrm>
            <a:off x="9512300" y="4953000"/>
            <a:ext cx="190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请求已完成</a:t>
            </a:r>
            <a:endParaRPr lang="en-US" sz="1100"/>
          </a:p>
        </p:txBody>
      </p:sp>
      <p:sp>
        <p:nvSpPr>
          <p:cNvPr id="68" name="AutoShape 68"/>
          <p:cNvSpPr/>
          <p:nvPr/>
        </p:nvSpPr>
        <p:spPr>
          <a:xfrm>
            <a:off x="9512300" y="53975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A0AAB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整个请求过程完成，响应数据已全部接收，可安全处理最终结果。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纯Ajax：代码实战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3556000"/>
          </a:xfrm>
          <a:prstGeom prst="roundRect">
            <a:avLst>
              <a:gd name="adj" fmla="val 0"/>
            </a:avLst>
          </a:prstGeom>
          <a:solidFill>
            <a:srgbClr val="0F172A">
              <a:alpha val="93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3556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10287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1. 实例化核心对象，开启异步通信基础</a:t>
            </a:r>
            <a:br>
              <a:rPr lang="en-US" sz="13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1" i="0" u="none" strike="noStrike">
                <a:solidFill>
                  <a:srgbClr val="40E0D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const</a:t>
            </a: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xhr =</a:t>
            </a:r>
            <a:r>
              <a:rPr lang="en-US" sz="1300" b="1" i="0" u="none" strike="noStrike">
                <a:solidFill>
                  <a:srgbClr val="40E0D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new</a:t>
            </a: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XMLHttpRequest();</a:t>
            </a:r>
            <a:br>
              <a:rPr lang="en-US" sz="13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2. 初始化请求配置：请求方式、目标URL、异步标识</a:t>
            </a:r>
            <a:br>
              <a:rPr lang="en-US" sz="13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xhr.open(</a:t>
            </a:r>
            <a:r>
              <a:rPr lang="en-US" sz="1300" b="0" i="0" u="none" strike="noStrike">
                <a:solidFill>
                  <a:srgbClr val="FBBF2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'GET'</a:t>
            </a: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r>
              <a:rPr lang="en-US" sz="1300" b="0" i="0" u="none" strike="noStrike">
                <a:solidFill>
                  <a:srgbClr val="FBBF2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'https://api.example.com/data?id=1'</a:t>
            </a: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r>
              <a:rPr lang="en-US" sz="1300" b="0" i="0" u="none" strike="noStrike">
                <a:solidFill>
                  <a:srgbClr val="40E0D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true</a:t>
            </a: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);</a:t>
            </a:r>
            <a:br>
              <a:rPr lang="en-US" sz="13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3. 状态监听：核心回调，处理响应数据与异常</a:t>
            </a:r>
            <a:br>
              <a:rPr lang="en-US" sz="13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xhr.onreadystatechange =</a:t>
            </a:r>
            <a:r>
              <a:rPr lang="en-US" sz="1300" b="1" i="0" u="none" strike="noStrike">
                <a:solidFill>
                  <a:srgbClr val="40E0D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function</a:t>
            </a: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 {</a:t>
            </a:r>
            <a:br>
              <a:rPr lang="en-US" sz="13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1" i="0" u="none" strike="noStrike">
                <a:solidFill>
                  <a:srgbClr val="40E0D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</a:t>
            </a: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(xhr.readyState === 4) {</a:t>
            </a:r>
            <a:r>
              <a:rPr lang="en-US" sz="13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readyState=4 代表请求已完成</a:t>
            </a:r>
            <a:br>
              <a:rPr lang="en-US" sz="13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1" i="0" u="none" strike="noStrike">
                <a:solidFill>
                  <a:srgbClr val="40E0D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</a:t>
            </a: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(xhr.status &gt;= 200 &amp;&amp; xhr.status &lt; 300) {</a:t>
            </a:r>
            <a:br>
              <a:rPr lang="en-US" sz="13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console.log(</a:t>
            </a:r>
            <a:r>
              <a:rPr lang="en-US" sz="1300" b="0" i="0" u="none" strike="noStrike">
                <a:solidFill>
                  <a:srgbClr val="FBBF2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'请求成功'</a:t>
            </a: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 JSON.parse(xhr.responseText));</a:t>
            </a:r>
            <a:br>
              <a:rPr lang="en-US" sz="13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r>
              <a:rPr lang="en-US" sz="1300" b="1" i="0" u="none" strike="noStrike">
                <a:solidFill>
                  <a:srgbClr val="40E0D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else</a:t>
            </a: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{ console.error(</a:t>
            </a:r>
            <a:r>
              <a:rPr lang="en-US" sz="1300" b="0" i="0" u="none" strike="noStrike">
                <a:solidFill>
                  <a:srgbClr val="FBBF2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'请求失败，状态码：'</a:t>
            </a: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+ xhr.status); }</a:t>
            </a:r>
            <a:br>
              <a:rPr lang="en-US" sz="13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br>
              <a:rPr lang="en-US" sz="13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};</a:t>
            </a:r>
            <a:br>
              <a:rPr lang="en-US" sz="13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4. 发送请求：无请求体时参数为 null，启动网络IO</a:t>
            </a:r>
            <a:br>
              <a:rPr lang="en-US" sz="13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0" i="0" u="none" strike="noStrike">
                <a:solidFill>
                  <a:srgbClr val="E2E8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xhr.send();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53975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1E293B">
              <a:alpha val="88000"/>
            </a:srgbClr>
          </a:solidFill>
          <a:ln w="12700" cap="flat" cmpd="sng">
            <a:solidFill>
              <a:srgbClr val="40E0D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5524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55245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5867400"/>
            <a:ext cx="952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 Ajax 开发模式要求开发者手动掌控请求的全生命周期，从对象创建到状态机的每一步流转。这种底层操作方式虽然代码繁琐，但能帮助我们深刻理解 HTTP 协议在前端的执行细节，是构建更高级异步库（如 Axios）的基石。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纯Ajax：优缺点分析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141E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核心优势：原生、可控、兼容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4699000" cy="1079500"/>
          </a:xfrm>
          <a:prstGeom prst="roundRect">
            <a:avLst>
              <a:gd name="adj" fmla="val 0"/>
            </a:avLst>
          </a:prstGeom>
          <a:solidFill>
            <a:srgbClr val="40E0D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27305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原生支持，轻量无依赖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3000" y="31115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无需引入任何外部框架或库，直接在现代浏览器环境中运行，减少了项目体积和第三方依赖带来的潜在风险。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873500"/>
            <a:ext cx="4699000" cy="1079500"/>
          </a:xfrm>
          <a:prstGeom prst="roundRect">
            <a:avLst>
              <a:gd name="adj" fmla="val 0"/>
            </a:avLst>
          </a:prstGeom>
          <a:solidFill>
            <a:srgbClr val="40E0D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43000" y="39370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全流程精细控制能力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43000" y="43180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开发者可对请求全生命周期进行掌控，包括监控实时上传/下载进度、灵活设置超时时间以及随时手动取消请求。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5080000"/>
            <a:ext cx="4699000" cy="1079500"/>
          </a:xfrm>
          <a:prstGeom prst="roundRect">
            <a:avLst>
              <a:gd name="adj" fmla="val 0"/>
            </a:avLst>
          </a:prstGeom>
          <a:solidFill>
            <a:srgbClr val="40E0D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143000" y="51435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极佳的浏览器兼容性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143000" y="55245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不仅完美适配现代主流浏览器，通过简单的兼容处理后，甚至可以稳定运行在早期的IE浏览器环境中。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90450">
            <a:off x="3937000" y="3930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77000" y="1651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141E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77000" y="165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F871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731000" y="1841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主要痛点：繁琐、复杂、陈旧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731000" y="2667000"/>
            <a:ext cx="4699000" cy="1079500"/>
          </a:xfrm>
          <a:prstGeom prst="roundRect">
            <a:avLst>
              <a:gd name="adj" fmla="val 0"/>
            </a:avLst>
          </a:prstGeom>
          <a:solidFill>
            <a:srgbClr val="F8717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858000" y="27305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样板代码繁琐冗余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858000" y="31115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每发起一次请求都需编写大量重复的代码来处理open、send、readyState变化及各种错误状态，开发效率较低。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731000" y="3873500"/>
            <a:ext cx="4699000" cy="1079500"/>
          </a:xfrm>
          <a:prstGeom prst="roundRect">
            <a:avLst>
              <a:gd name="adj" fmla="val 0"/>
            </a:avLst>
          </a:prstGeom>
          <a:solidFill>
            <a:srgbClr val="F8717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858000" y="39370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异步嵌套导致“回调地狱”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858000" y="43180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在处理多个依赖的异步请求时，极易产生多层嵌套的回调函数，使得代码逻辑变得晦涩难懂，后期维护成本极高。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731000" y="5080000"/>
            <a:ext cx="4699000" cy="1079500"/>
          </a:xfrm>
          <a:prstGeom prst="roundRect">
            <a:avLst>
              <a:gd name="adj" fmla="val 0"/>
            </a:avLst>
          </a:prstGeom>
          <a:solidFill>
            <a:srgbClr val="F8717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858000" y="51435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基于事件的API设计陈旧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858000" y="55245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传统的事件监听模式缺乏现代Promise的链式调用和async/await语法糖的优雅体验，不符合现代异步编程习惯。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2709</Words>
  <Application>WPS 演示</Application>
  <PresentationFormat>宽屏</PresentationFormat>
  <Paragraphs>162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Noto Sans SC</vt:lpstr>
      <vt:lpstr>Roboto Mono</vt:lpstr>
      <vt:lpstr>Roboto</vt:lpstr>
      <vt:lpstr>Roboto Mono</vt:lpstr>
      <vt:lpstr>Consolas</vt:lpstr>
      <vt:lpstr>Consolas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CYD</cp:lastModifiedBy>
  <cp:revision>157</cp:revision>
  <dcterms:created xsi:type="dcterms:W3CDTF">2019-06-19T02:08:00Z</dcterms:created>
  <dcterms:modified xsi:type="dcterms:W3CDTF">2026-05-31T12:16:55Z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63A9B15FE58D47229D8F5D85DFE1C935_11</vt:lpwstr>
  </property>
</Properties>
</file>