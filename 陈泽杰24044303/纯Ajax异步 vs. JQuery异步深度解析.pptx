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4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69" r:id="rId6"/>
    <p:sldId id="270" r:id="rId7"/>
    <p:sldId id="271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今天的分享。今天我们将深入探讨Web开发中两个非常重要的概念：纯Ajax异步和JQuery异步。我们将一起回顾它们的起源，解析它们的工作原理，对比它们的优缺点，并探讨在现代项目中如何做出合适的技术选型。希望通过这次分享，能帮助大家对前端异步通信有更深刻的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现在我们把这两种技术放在一起做个全面的对比。从API风格、语法复杂度、依赖、兼容性等多个维度来看，它们各有优劣。原生Ajax胜在底层控制和无依赖，而JQuery Ajax胜在简洁和兼容性。选择哪一个，取决于具体的项目需求。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那么，在今天，我们应该如何选择呢？首先，Ajax技术的应用场景非常广泛，比如实时搜索、表单验证等等。但对于新项目，我强烈推荐使用更现代的工具，比如浏览器原生的Fetch API，或者功能更强大的第三方库Axios。它们基于Promise，语法更优雅，也更符合现代前端的开发习惯。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最后，我们来总结一下。Ajax的核心价值在于异步和无刷新，它彻底改变了Web交互。纯Ajax是基础，JQuery Ajax是优秀的封装。虽然它们在新项目中使用得越来越少，但理解它们的工作原理，对于我们理解现代前端技术至关重要。技术在不断演进，我们也要保持学习，拥抱未来。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14.svg"/><Relationship Id="rId12" Type="http://schemas.openxmlformats.org/officeDocument/2006/relationships/image" Target="../media/image13.png"/><Relationship Id="rId11" Type="http://schemas.openxmlformats.org/officeDocument/2006/relationships/image" Target="../media/image12.jpeg"/><Relationship Id="rId10" Type="http://schemas.openxmlformats.org/officeDocument/2006/relationships/image" Target="../media/image11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667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纯Ajax异步 vs. JQuery异步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064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深度解析与技术选型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纯Ajax vs. JQuery异步 - 全面对比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14232D">
              <a:alpha val="90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70500" cy="381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8034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原生 XMLHttpRequest (纯 Ajax)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286000"/>
            <a:ext cx="476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浏览器原生底层接口，直接与网络层交互，无任何外部代码依赖。开发者需手动管理请求状态、解析响应数据，是构建复杂网络库的基石。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048000"/>
            <a:ext cx="476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核心特征：极致灵活 · 零依赖 · 高可控性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59500" y="1651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14232D">
              <a:alpha val="90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159500" y="1651000"/>
            <a:ext cx="5270500" cy="381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413500" y="18034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JQuery $.ajax 高级封装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13500" y="2286000"/>
            <a:ext cx="476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对原生 XHR 的高度抽象，通过配置化参数屏蔽底层细节。内置了跨浏览器兼容处理与常用功能（如JSONP），以牺牲少量灵活性换取开发效率。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13500" y="3048000"/>
            <a:ext cx="476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核心特征：开箱即用 · 语法简洁 · 兼容性强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937000"/>
            <a:ext cx="2667000" cy="1460500"/>
          </a:xfrm>
          <a:prstGeom prst="roundRect">
            <a:avLst>
              <a:gd name="adj" fmla="val 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40E0D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89000" y="40640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开发成本与语法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89000" y="44450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原生需手写样板代码，流程繁琐；JQuery采用配置对象模式，代码量减少60%以上，链式调用更符合直觉。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556000" y="3937000"/>
            <a:ext cx="2667000" cy="1460500"/>
          </a:xfrm>
          <a:prstGeom prst="roundRect">
            <a:avLst>
              <a:gd name="adj" fmla="val 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40E0D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3683000" y="40640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系统依赖负担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683000" y="44450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原生零外部依赖，体积极轻；JQuery方案必须引入完整类库（约30KB），增加页面加载资源与潜在冲突风险。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3937000"/>
            <a:ext cx="2667000" cy="1460500"/>
          </a:xfrm>
          <a:prstGeom prst="roundRect">
            <a:avLst>
              <a:gd name="adj" fmla="val 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40E0D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77000" y="40640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错误处理机制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77000" y="44450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原生需手动判断状态码与网络异常；JQuery提供语义化的 success/error 回调，自动处理大部分兼容性问题。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144000" y="3937000"/>
            <a:ext cx="2667000" cy="1460500"/>
          </a:xfrm>
          <a:prstGeom prst="roundRect">
            <a:avLst>
              <a:gd name="adj" fmla="val 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40E0D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271000" y="40640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扩展功能支持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271000" y="44450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原生支持细粒度进度监控；JQuery则原生支持JSONP跨域，在不支持CORS的老旧环境中是不可替代的方案。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5524500"/>
            <a:ext cx="10922000" cy="1079500"/>
          </a:xfrm>
          <a:prstGeom prst="roundRect">
            <a:avLst>
              <a:gd name="adj" fmla="val 0"/>
            </a:avLst>
          </a:prstGeom>
          <a:solidFill>
            <a:srgbClr val="40E0D0">
              <a:alpha val="13000"/>
            </a:srgbClr>
          </a:solidFill>
          <a:ln w="12700" cap="flat" cmpd="sng">
            <a:solidFill>
              <a:srgbClr val="40E0D0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952500" y="5613400"/>
            <a:ext cx="1041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1F5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总结来看，原生 Ajax 是构建高性能、无依赖组件的最佳选择，适合底层框架与现代前端开发；而 JQuery 异步则是快速开发业务功能、维护遗留系统或需要快速实现跨域(JSONP)时的高效工具。两者没有绝对的优劣，只有场景的适配。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应用场景与技术选型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603500" cy="1778000"/>
          </a:xfrm>
          <a:prstGeom prst="roundRect">
            <a:avLst>
              <a:gd name="adj" fmla="val 0"/>
            </a:avLst>
          </a:prstGeom>
          <a:solidFill>
            <a:srgbClr val="1E293B">
              <a:alpha val="82000"/>
            </a:srgbClr>
          </a:solidFill>
          <a:ln w="12700" cap="flat" cmpd="sng">
            <a:solidFill>
              <a:srgbClr val="40E0D0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603500" cy="381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8161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17907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实时搜索建议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14400" y="2286000"/>
            <a:ext cx="2311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用户输入关键词时，后端实时返回匹配结果，提供即时的联想与补全体验，减少用户输入成本。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530600" y="1651000"/>
            <a:ext cx="2603500" cy="1778000"/>
          </a:xfrm>
          <a:prstGeom prst="roundRect">
            <a:avLst>
              <a:gd name="adj" fmla="val 0"/>
            </a:avLst>
          </a:prstGeom>
          <a:solidFill>
            <a:srgbClr val="1E293B">
              <a:alpha val="82000"/>
            </a:srgbClr>
          </a:solidFill>
          <a:ln w="12700" cap="flat" cmpd="sng">
            <a:solidFill>
              <a:srgbClr val="40E0D0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530600" y="1651000"/>
            <a:ext cx="2603500" cy="381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3000" y="18161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102100" y="17907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表单验证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83000" y="2286000"/>
            <a:ext cx="2311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注册或提交前异步校验数据，无需刷新页面即可实时反馈用户名、邮箱是否已存在或格式是否合法。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99200" y="1651000"/>
            <a:ext cx="2603500" cy="1778000"/>
          </a:xfrm>
          <a:prstGeom prst="roundRect">
            <a:avLst>
              <a:gd name="adj" fmla="val 0"/>
            </a:avLst>
          </a:prstGeom>
          <a:solidFill>
            <a:srgbClr val="1E293B">
              <a:alpha val="82000"/>
            </a:srgbClr>
          </a:solidFill>
          <a:ln w="12700" cap="flat" cmpd="sng">
            <a:solidFill>
              <a:srgbClr val="40E0D0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299200" y="1651000"/>
            <a:ext cx="2603500" cy="381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51600" y="18161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870700" y="17907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动态内容加载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51600" y="2286000"/>
            <a:ext cx="2311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如无限滚动列表，用户浏览到底部时自动触发请求加载新数据，在不中断体验的前提下扩展内容。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067800" y="1651000"/>
            <a:ext cx="2603500" cy="1778000"/>
          </a:xfrm>
          <a:prstGeom prst="roundRect">
            <a:avLst>
              <a:gd name="adj" fmla="val 0"/>
            </a:avLst>
          </a:prstGeom>
          <a:solidFill>
            <a:srgbClr val="1E293B">
              <a:alpha val="82000"/>
            </a:srgbClr>
          </a:solidFill>
          <a:ln w="12700" cap="flat" cmpd="sng">
            <a:solidFill>
              <a:srgbClr val="40E0D0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067800" y="1651000"/>
            <a:ext cx="2603500" cy="381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20200" y="18161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639300" y="17907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投票与点赞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220200" y="2286000"/>
            <a:ext cx="2311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点击操作后状态毫秒级更新，无需等待页面响应，提供流畅的即时交互反馈，提升用户参与感。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3683000"/>
            <a:ext cx="5334000" cy="1714500"/>
          </a:xfrm>
          <a:prstGeom prst="roundRect">
            <a:avLst>
              <a:gd name="adj" fmla="val 0"/>
            </a:avLst>
          </a:prstGeom>
          <a:solidFill>
            <a:srgbClr val="141923">
              <a:alpha val="88000"/>
            </a:srgbClr>
          </a:solidFill>
          <a:ln w="12700" cap="flat" cmpd="sng">
            <a:solidFill>
              <a:srgbClr val="40E0D0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0"/>
          <a:srcRect l="12500" r="12500"/>
          <a:stretch>
            <a:fillRect/>
          </a:stretch>
        </p:blipFill>
        <p:spPr>
          <a:xfrm>
            <a:off x="889000" y="3810000"/>
            <a:ext cx="1143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6" name="AutoShape 26"/>
          <p:cNvSpPr/>
          <p:nvPr/>
        </p:nvSpPr>
        <p:spPr>
          <a:xfrm>
            <a:off x="2159000" y="3835400"/>
            <a:ext cx="368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Fetch API · 原生新标准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2159000" y="431800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浏览器内置的现代网络请求方案，基于 Promise 实现，彻底告别回调地狱。语法简洁直观，无外部依赖，完美契合 ES6+ 开发范式，是轻量化前端应用的理想选择。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86500" y="3683000"/>
            <a:ext cx="5334000" cy="1714500"/>
          </a:xfrm>
          <a:prstGeom prst="roundRect">
            <a:avLst>
              <a:gd name="adj" fmla="val 0"/>
            </a:avLst>
          </a:prstGeom>
          <a:solidFill>
            <a:srgbClr val="141923">
              <a:alpha val="88000"/>
            </a:srgbClr>
          </a:solidFill>
          <a:ln w="12700" cap="flat" cmpd="sng">
            <a:solidFill>
              <a:srgbClr val="40E0D0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1"/>
          <a:srcRect t="2222" b="2222"/>
          <a:stretch>
            <a:fillRect/>
          </a:stretch>
        </p:blipFill>
        <p:spPr>
          <a:xfrm>
            <a:off x="6413500" y="3810000"/>
            <a:ext cx="1143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0" name="AutoShape 30"/>
          <p:cNvSpPr/>
          <p:nvPr/>
        </p:nvSpPr>
        <p:spPr>
          <a:xfrm>
            <a:off x="7683500" y="3835400"/>
            <a:ext cx="368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Axios · 生态级方案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683500" y="431800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目前最受欢迎的第三方 HTTP 客户端。支持请求/响应拦截器、自动 JSON 转换、请求取消与错误处理等高级特性，成熟稳定，是复杂企业级应用的首选工具。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62000" y="5524500"/>
            <a:ext cx="10922000" cy="10795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12700" cap="flat" cmpd="sng">
            <a:solidFill>
              <a:srgbClr val="40E0D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762000" y="5524500"/>
            <a:ext cx="50800" cy="1079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6000" y="5651500"/>
            <a:ext cx="381000" cy="3810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1587500" y="5626100"/>
            <a:ext cx="977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核心决策建议：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除非是维护老旧的传统项目，否则在 2026 年的新项目开发中，应优先拥抱 Fetch API（原生轻量）或 Axios（全能生态）。它们不仅代码更优雅，更能显著提升开发效率与系统的可维护性，是构建现代 Web 应用的最佳实践。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556000" cy="2413000"/>
          </a:xfrm>
          <a:prstGeom prst="roundRect">
            <a:avLst>
              <a:gd name="adj" fmla="val 0"/>
            </a:avLst>
          </a:prstGeom>
          <a:solidFill>
            <a:srgbClr val="1E293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" cy="24130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Ajax 核心价值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3238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突破传统Web交互的限制，实现浏览器与服务器的</a:t>
            </a:r>
            <a:r>
              <a:rPr lang="en-US" sz="13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异步通信</a:t>
            </a:r>
            <a:r>
              <a:rPr lang="en-US" sz="1300" b="0" i="0" u="none" strike="noStrike">
                <a:solidFill>
                  <a:srgbClr val="E2E8F0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与页面的</a:t>
            </a:r>
            <a:r>
              <a:rPr lang="en-US" sz="13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无刷新更新</a:t>
            </a:r>
            <a:r>
              <a:rPr lang="en-US" sz="1300" b="0" i="0" u="none" strike="noStrike">
                <a:solidFill>
                  <a:srgbClr val="E2E8F0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。这一特性彻底改变了用户体验，让Web应用能够像桌面软件一样流畅响应操作，是现代动态Web应用的基石。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08500" y="1651000"/>
            <a:ext cx="3556000" cy="2413000"/>
          </a:xfrm>
          <a:prstGeom prst="roundRect">
            <a:avLst>
              <a:gd name="adj" fmla="val 0"/>
            </a:avLst>
          </a:prstGeom>
          <a:solidFill>
            <a:srgbClr val="1E293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508500" y="1651000"/>
            <a:ext cx="50800" cy="24130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99000" y="1841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原生 XHR 基础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413000"/>
            <a:ext cx="3238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</a:t>
            </a:r>
            <a:r>
              <a:rPr lang="en-US" sz="1300" b="0" i="0" u="none" strike="noStrike">
                <a:solidFill>
                  <a:srgbClr val="B4BED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XMLHttpRequest</a:t>
            </a:r>
            <a:r>
              <a:rPr lang="en-US" sz="1300" b="0" i="0" u="none" strike="noStrike">
                <a:solidFill>
                  <a:srgbClr val="E2E8F0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对象构建，是所有 Ajax 技术的底层标准。虽然提供了最原生的控制能力，但配置项繁琐，需要手动处理状态变化和跨浏览器兼容问题，开发效率在早期受到一定限制。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255000" y="1651000"/>
            <a:ext cx="3556000" cy="2413000"/>
          </a:xfrm>
          <a:prstGeom prst="roundRect">
            <a:avLst>
              <a:gd name="adj" fmla="val 0"/>
            </a:avLst>
          </a:prstGeom>
          <a:solidFill>
            <a:srgbClr val="1E293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255000" y="1651000"/>
            <a:ext cx="50800" cy="24130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445500" y="1841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JQuery 简化方案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445500" y="2413000"/>
            <a:ext cx="3238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</a:t>
            </a:r>
            <a:r>
              <a:rPr lang="en-US" sz="1300" b="0" i="0" u="none" strike="noStrike">
                <a:solidFill>
                  <a:srgbClr val="B4BED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$.ajax</a:t>
            </a:r>
            <a:r>
              <a:rPr lang="en-US" sz="1300" b="0" i="0" u="none" strike="noStrike">
                <a:solidFill>
                  <a:srgbClr val="E2E8F0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系列方法对原生 API 进行了优雅的封装。极大地简化了语法，内置了兼容性处理，并引入了链式调用风格。虽然解决了开发痛点，但也引入了对庞大第三方库的依赖，增加了项目体积。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318000"/>
            <a:ext cx="11049000" cy="2032000"/>
          </a:xfrm>
          <a:prstGeom prst="roundRect">
            <a:avLst>
              <a:gd name="adj" fmla="val 0"/>
            </a:avLst>
          </a:prstGeom>
          <a:solidFill>
            <a:srgbClr val="0F1923">
              <a:alpha val="92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4508500"/>
            <a:ext cx="1016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技术演进：从历史走向未来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5080000"/>
            <a:ext cx="1054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随着 Web 标准的迭代，原生</a:t>
            </a:r>
            <a:r>
              <a:rPr lang="en-US" sz="1400" b="0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Fetch API</a:t>
            </a: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逐渐成熟，结合</a:t>
            </a:r>
            <a:r>
              <a:rPr lang="en-US" sz="1400" b="0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Axios</a:t>
            </a: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等现代库的流行，传统的 XHR 和 JQuery Ajax 在新项目中已逐渐淡出。但理解它们的底层异步通信原理，依然是掌握现代前端网络请求机制、构建高效应用不可或缺的基础。技术在变，核心思想不变，这是我们应对未来技术革新的底气所在。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1605</Words>
  <Application>WPS 演示</Application>
  <PresentationFormat/>
  <Paragraphs>82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8" baseType="lpstr">
      <vt:lpstr>Arial</vt:lpstr>
      <vt:lpstr>宋体</vt:lpstr>
      <vt:lpstr>Wingdings</vt:lpstr>
      <vt:lpstr>Arial</vt:lpstr>
      <vt:lpstr>Noto Sans SC</vt:lpstr>
      <vt:lpstr>Roboto Mono</vt:lpstr>
      <vt:lpstr>Roboto</vt:lpstr>
      <vt:lpstr>Consolas</vt:lpstr>
      <vt:lpstr>微软雅黑</vt:lpstr>
      <vt:lpstr>Arial Unicode MS</vt:lpstr>
      <vt:lpstr>Consolas</vt:lpstr>
      <vt:lpstr>Roboto Mono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CYD</cp:lastModifiedBy>
  <cp:revision>1</cp:revision>
  <dcterms:created xsi:type="dcterms:W3CDTF">2026-05-31T12:41:50Z</dcterms:created>
  <dcterms:modified xsi:type="dcterms:W3CDTF">2026-05-31T12:41:50Z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{"Label":"1","ContentProducer":"001191110102MACQD9K64010000","ProduceID":"7646027920415706319","ReservedCode1":"","ContentPropagator":"","PropagateID":"","ReservedCode2":""}</vt:lpwstr>
  </property>
  <property fmtid="{D5CDD505-2E9C-101B-9397-08002B2CF9AE}" pid="3" name="KSOProductBuildVer">
    <vt:lpwstr>2052-12.1.0.26375</vt:lpwstr>
  </property>
  <property fmtid="{D5CDD505-2E9C-101B-9397-08002B2CF9AE}" pid="4" name="ICV">
    <vt:lpwstr>AF7939685EEB416F9B2D532C7A0FDD4D_12</vt:lpwstr>
  </property>
</Properties>
</file>